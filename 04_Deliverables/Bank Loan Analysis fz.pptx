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webextensions/webextension1.xml" ContentType="application/vnd.ms-office.webextension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1" r:id="rId9"/>
    <p:sldId id="263" r:id="rId10"/>
    <p:sldId id="270" r:id="rId11"/>
    <p:sldId id="272" r:id="rId12"/>
    <p:sldId id="271" r:id="rId13"/>
  </p:sldIdLst>
  <p:sldSz cx="9144000" cy="5143500" type="screen16x9"/>
  <p:notesSz cx="6858000" cy="9144000"/>
  <p:embeddedFontLst>
    <p:embeddedFont>
      <p:font typeface="Bahnschrift" panose="020B0502040204020203" pitchFamily="34" charset="0"/>
      <p:regular r:id="rId15"/>
      <p:bold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Inter Medium" panose="020B0604020202020204" charset="0"/>
      <p:regular r:id="rId25"/>
      <p:bold r:id="rId26"/>
      <p:italic r:id="rId27"/>
      <p:boldItalic r:id="rId28"/>
    </p:embeddedFont>
    <p:embeddedFont>
      <p:font typeface="JetBrains Mono" panose="020B0604020202020204" charset="0"/>
      <p:regular r:id="rId29"/>
      <p:bold r:id="rId30"/>
      <p:italic r:id="rId31"/>
      <p:boldItalic r:id="rId32"/>
    </p:embeddedFont>
    <p:embeddedFont>
      <p:font typeface="Viner Hand ITC" panose="03070502030502020203" pitchFamily="66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A916F5-EDC8-4B9E-81DA-F01D3221CF54}">
  <a:tblStyle styleId="{34A916F5-EDC8-4B9E-81DA-F01D3221CF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0033e974e3_1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0033e974e3_1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2ebe508d8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2ebe508d8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848ce2d2e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848ce2d2e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848ce2d2e8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848ce2d2e8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848ce2d2e8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848ce2d2e8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848ce2d2e8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848ce2d2e8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e85d9d09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e85d9d09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e85d9d09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e85d9d09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941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e85d9d096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e85d9d096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e85d9d096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1e85d9d0968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e85d9d0968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e85d9d0968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e85d9d0968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e85d9d0968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72484" y="-9375"/>
            <a:ext cx="10052262" cy="6037792"/>
            <a:chOff x="-72484" y="-9375"/>
            <a:chExt cx="10052262" cy="6037792"/>
          </a:xfrm>
        </p:grpSpPr>
        <p:sp>
          <p:nvSpPr>
            <p:cNvPr id="10" name="Google Shape;10;p2"/>
            <p:cNvSpPr/>
            <p:nvPr/>
          </p:nvSpPr>
          <p:spPr>
            <a:xfrm flipH="1">
              <a:off x="-72484" y="-9375"/>
              <a:ext cx="2620800" cy="351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7627105" y="57205"/>
              <a:ext cx="1775683" cy="1775683"/>
              <a:chOff x="-714775" y="-690550"/>
              <a:chExt cx="2141700" cy="21417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-714775" y="-690550"/>
                <a:ext cx="2141700" cy="2141700"/>
              </a:xfrm>
              <a:prstGeom prst="ellipse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-484075" y="-459850"/>
                <a:ext cx="1680300" cy="1680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" name="Google Shape;14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574954" y="3662992"/>
              <a:ext cx="2404825" cy="2365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60000" y="-9375"/>
              <a:ext cx="1826801" cy="10275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" name="Google Shape;16;p2"/>
            <p:cNvGrpSpPr/>
            <p:nvPr/>
          </p:nvGrpSpPr>
          <p:grpSpPr>
            <a:xfrm flipH="1">
              <a:off x="1016942" y="92425"/>
              <a:ext cx="1531341" cy="147700"/>
              <a:chOff x="715650" y="4605350"/>
              <a:chExt cx="2809800" cy="1477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715650" y="4605350"/>
                <a:ext cx="2809800" cy="47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15650" y="4705350"/>
                <a:ext cx="2809800" cy="47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457200" y="1097425"/>
            <a:ext cx="5948700" cy="243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457200" y="3694750"/>
            <a:ext cx="5948700" cy="351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0" y="0"/>
            <a:ext cx="9143950" cy="5143650"/>
            <a:chOff x="0" y="0"/>
            <a:chExt cx="9143950" cy="5143650"/>
          </a:xfrm>
        </p:grpSpPr>
        <p:sp>
          <p:nvSpPr>
            <p:cNvPr id="23" name="Google Shape;23;p3"/>
            <p:cNvSpPr/>
            <p:nvPr/>
          </p:nvSpPr>
          <p:spPr>
            <a:xfrm flipH="1">
              <a:off x="50" y="4726200"/>
              <a:ext cx="3708300" cy="284100"/>
            </a:xfrm>
            <a:prstGeom prst="rect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7158250" y="0"/>
              <a:ext cx="1985700" cy="165900"/>
            </a:xfrm>
            <a:prstGeom prst="rect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0" y="4859550"/>
              <a:ext cx="5619600" cy="2841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720000" y="23140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72250"/>
            <a:ext cx="9144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720000" y="3155850"/>
            <a:ext cx="5067600" cy="5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4"/>
          <p:cNvGrpSpPr/>
          <p:nvPr/>
        </p:nvGrpSpPr>
        <p:grpSpPr>
          <a:xfrm>
            <a:off x="-77307" y="0"/>
            <a:ext cx="9221307" cy="5143650"/>
            <a:chOff x="-77307" y="0"/>
            <a:chExt cx="9221307" cy="5143650"/>
          </a:xfrm>
        </p:grpSpPr>
        <p:grpSp>
          <p:nvGrpSpPr>
            <p:cNvPr id="31" name="Google Shape;31;p4"/>
            <p:cNvGrpSpPr/>
            <p:nvPr/>
          </p:nvGrpSpPr>
          <p:grpSpPr>
            <a:xfrm>
              <a:off x="8529855" y="84450"/>
              <a:ext cx="516900" cy="516900"/>
              <a:chOff x="8172330" y="2673275"/>
              <a:chExt cx="516900" cy="516900"/>
            </a:xfrm>
          </p:grpSpPr>
          <p:sp>
            <p:nvSpPr>
              <p:cNvPr id="32" name="Google Shape;32;p4"/>
              <p:cNvSpPr/>
              <p:nvPr/>
            </p:nvSpPr>
            <p:spPr>
              <a:xfrm>
                <a:off x="8255115" y="2756075"/>
                <a:ext cx="351300" cy="351300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8172330" y="2673275"/>
                <a:ext cx="516900" cy="516900"/>
              </a:xfrm>
              <a:prstGeom prst="ellipse">
                <a:avLst/>
              </a:prstGeom>
              <a:noFill/>
              <a:ln w="28575" cap="flat" cmpd="sng">
                <a:solidFill>
                  <a:srgbClr val="11101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" name="Google Shape;34;p4"/>
            <p:cNvSpPr/>
            <p:nvPr/>
          </p:nvSpPr>
          <p:spPr>
            <a:xfrm>
              <a:off x="3524350" y="4859550"/>
              <a:ext cx="5619600" cy="2841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0" y="0"/>
              <a:ext cx="3708300" cy="284100"/>
            </a:xfrm>
            <a:prstGeom prst="rect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" name="Google Shape;36;p4"/>
            <p:cNvPicPr preferRelativeResize="0"/>
            <p:nvPr/>
          </p:nvPicPr>
          <p:blipFill rotWithShape="1">
            <a:blip r:embed="rId2">
              <a:alphaModFix/>
            </a:blip>
            <a:srcRect t="15277" b="15277"/>
            <a:stretch/>
          </p:blipFill>
          <p:spPr>
            <a:xfrm flipH="1">
              <a:off x="-77307" y="4265823"/>
              <a:ext cx="1385434" cy="54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" name="Google Shape;37;p4"/>
            <p:cNvSpPr/>
            <p:nvPr/>
          </p:nvSpPr>
          <p:spPr>
            <a:xfrm>
              <a:off x="5435700" y="4643900"/>
              <a:ext cx="3708300" cy="284100"/>
            </a:xfrm>
            <a:prstGeom prst="rect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11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5010738" y="2248075"/>
            <a:ext cx="2992500" cy="17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1140763" y="2248075"/>
            <a:ext cx="2992500" cy="17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1140762" y="1728725"/>
            <a:ext cx="2992500" cy="4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dk1"/>
                </a:solidFill>
                <a:highlight>
                  <a:schemeClr val="dk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5010737" y="1728725"/>
            <a:ext cx="2992500" cy="4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dk1"/>
                </a:solidFill>
                <a:highlight>
                  <a:schemeClr val="dk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48384"/>
          <a:stretch/>
        </p:blipFill>
        <p:spPr>
          <a:xfrm>
            <a:off x="-273437" y="-9375"/>
            <a:ext cx="1461286" cy="4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8" name="Google Shape;48;p6"/>
          <p:cNvGrpSpPr/>
          <p:nvPr/>
        </p:nvGrpSpPr>
        <p:grpSpPr>
          <a:xfrm>
            <a:off x="-306825" y="-9375"/>
            <a:ext cx="9757661" cy="5159850"/>
            <a:chOff x="-306825" y="-9375"/>
            <a:chExt cx="9757661" cy="5159850"/>
          </a:xfrm>
        </p:grpSpPr>
        <p:sp>
          <p:nvSpPr>
            <p:cNvPr id="49" name="Google Shape;49;p6"/>
            <p:cNvSpPr/>
            <p:nvPr/>
          </p:nvSpPr>
          <p:spPr>
            <a:xfrm>
              <a:off x="5435600" y="4726200"/>
              <a:ext cx="3708300" cy="284100"/>
            </a:xfrm>
            <a:prstGeom prst="rect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0" name="Google Shape;50;p6"/>
            <p:cNvPicPr preferRelativeResize="0"/>
            <p:nvPr/>
          </p:nvPicPr>
          <p:blipFill rotWithShape="1">
            <a:blip r:embed="rId2">
              <a:alphaModFix/>
            </a:blip>
            <a:srcRect b="48384"/>
            <a:stretch/>
          </p:blipFill>
          <p:spPr>
            <a:xfrm>
              <a:off x="7989550" y="-9375"/>
              <a:ext cx="1461286" cy="424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6"/>
            <p:cNvPicPr preferRelativeResize="0"/>
            <p:nvPr/>
          </p:nvPicPr>
          <p:blipFill rotWithShape="1">
            <a:blip r:embed="rId2">
              <a:alphaModFix/>
            </a:blip>
            <a:srcRect b="48384"/>
            <a:stretch/>
          </p:blipFill>
          <p:spPr>
            <a:xfrm>
              <a:off x="-306825" y="4726200"/>
              <a:ext cx="1461286" cy="424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6"/>
            <p:cNvSpPr/>
            <p:nvPr/>
          </p:nvSpPr>
          <p:spPr>
            <a:xfrm>
              <a:off x="3524350" y="4859550"/>
              <a:ext cx="5619600" cy="2841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7"/>
          <p:cNvGrpSpPr/>
          <p:nvPr/>
        </p:nvGrpSpPr>
        <p:grpSpPr>
          <a:xfrm>
            <a:off x="23" y="0"/>
            <a:ext cx="9448527" cy="5574200"/>
            <a:chOff x="23" y="0"/>
            <a:chExt cx="9448527" cy="5574200"/>
          </a:xfrm>
        </p:grpSpPr>
        <p:grpSp>
          <p:nvGrpSpPr>
            <p:cNvPr id="55" name="Google Shape;55;p7"/>
            <p:cNvGrpSpPr/>
            <p:nvPr/>
          </p:nvGrpSpPr>
          <p:grpSpPr>
            <a:xfrm>
              <a:off x="23" y="0"/>
              <a:ext cx="3408002" cy="351300"/>
              <a:chOff x="23" y="0"/>
              <a:chExt cx="3408002" cy="351300"/>
            </a:xfrm>
          </p:grpSpPr>
          <p:sp>
            <p:nvSpPr>
              <p:cNvPr id="56" name="Google Shape;56;p7"/>
              <p:cNvSpPr/>
              <p:nvPr/>
            </p:nvSpPr>
            <p:spPr>
              <a:xfrm>
                <a:off x="25" y="0"/>
                <a:ext cx="3408000" cy="351300"/>
              </a:xfrm>
              <a:prstGeom prst="rect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" name="Google Shape;57;p7"/>
              <p:cNvGrpSpPr/>
              <p:nvPr/>
            </p:nvGrpSpPr>
            <p:grpSpPr>
              <a:xfrm>
                <a:off x="23" y="101800"/>
                <a:ext cx="1531341" cy="147700"/>
                <a:chOff x="715650" y="4605350"/>
                <a:chExt cx="2809800" cy="147700"/>
              </a:xfrm>
            </p:grpSpPr>
            <p:sp>
              <p:nvSpPr>
                <p:cNvPr id="58" name="Google Shape;58;p7"/>
                <p:cNvSpPr/>
                <p:nvPr/>
              </p:nvSpPr>
              <p:spPr>
                <a:xfrm>
                  <a:off x="715650" y="4605350"/>
                  <a:ext cx="2809800" cy="47700"/>
                </a:xfrm>
                <a:prstGeom prst="rect">
                  <a:avLst/>
                </a:prstGeom>
                <a:solidFill>
                  <a:srgbClr val="11101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9;p7"/>
                <p:cNvSpPr/>
                <p:nvPr/>
              </p:nvSpPr>
              <p:spPr>
                <a:xfrm>
                  <a:off x="715650" y="4705350"/>
                  <a:ext cx="2809800" cy="47700"/>
                </a:xfrm>
                <a:prstGeom prst="rect">
                  <a:avLst/>
                </a:prstGeom>
                <a:solidFill>
                  <a:srgbClr val="11101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0" name="Google Shape;60;p7"/>
            <p:cNvSpPr/>
            <p:nvPr/>
          </p:nvSpPr>
          <p:spPr>
            <a:xfrm>
              <a:off x="8478350" y="4604000"/>
              <a:ext cx="970200" cy="970200"/>
            </a:xfrm>
            <a:prstGeom prst="ellipse">
              <a:avLst/>
            </a:prstGeom>
            <a:noFill/>
            <a:ln w="28575" cap="flat" cmpd="sng">
              <a:solidFill>
                <a:srgbClr val="1110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720000" y="1843250"/>
            <a:ext cx="3620100" cy="26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  <a:defRPr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720000" y="101575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8"/>
          <p:cNvGrpSpPr/>
          <p:nvPr/>
        </p:nvGrpSpPr>
        <p:grpSpPr>
          <a:xfrm>
            <a:off x="-685899" y="-433651"/>
            <a:ext cx="9829849" cy="5577301"/>
            <a:chOff x="-685899" y="-433651"/>
            <a:chExt cx="9829849" cy="5577301"/>
          </a:xfrm>
        </p:grpSpPr>
        <p:pic>
          <p:nvPicPr>
            <p:cNvPr id="65" name="Google Shape;65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85899" y="-433651"/>
              <a:ext cx="1978725" cy="19463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8"/>
            <p:cNvSpPr/>
            <p:nvPr/>
          </p:nvSpPr>
          <p:spPr>
            <a:xfrm>
              <a:off x="962675" y="840102"/>
              <a:ext cx="373500" cy="373500"/>
            </a:xfrm>
            <a:prstGeom prst="ellipse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5435600" y="4726200"/>
              <a:ext cx="3708300" cy="284100"/>
            </a:xfrm>
            <a:prstGeom prst="rect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524350" y="4859550"/>
              <a:ext cx="5619600" cy="2841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088300" y="1309950"/>
            <a:ext cx="4967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2088300" y="2151750"/>
            <a:ext cx="49674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flipH="1">
            <a:off x="1" y="0"/>
            <a:ext cx="8931124" cy="4910545"/>
            <a:chOff x="212876" y="0"/>
            <a:chExt cx="8931124" cy="4910545"/>
          </a:xfrm>
        </p:grpSpPr>
        <p:sp>
          <p:nvSpPr>
            <p:cNvPr id="74" name="Google Shape;74;p9"/>
            <p:cNvSpPr/>
            <p:nvPr/>
          </p:nvSpPr>
          <p:spPr>
            <a:xfrm rot="-5400000">
              <a:off x="8265000" y="594900"/>
              <a:ext cx="1473900" cy="284100"/>
            </a:xfrm>
            <a:prstGeom prst="rect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" name="Google Shape;75;p9"/>
            <p:cNvGrpSpPr/>
            <p:nvPr/>
          </p:nvGrpSpPr>
          <p:grpSpPr>
            <a:xfrm>
              <a:off x="212876" y="4827445"/>
              <a:ext cx="867371" cy="83100"/>
              <a:chOff x="81151" y="4950070"/>
              <a:chExt cx="867371" cy="83100"/>
            </a:xfrm>
          </p:grpSpPr>
          <p:sp>
            <p:nvSpPr>
              <p:cNvPr id="76" name="Google Shape;76;p9"/>
              <p:cNvSpPr/>
              <p:nvPr/>
            </p:nvSpPr>
            <p:spPr>
              <a:xfrm>
                <a:off x="81151" y="4950070"/>
                <a:ext cx="83100" cy="83100"/>
              </a:xfrm>
              <a:prstGeom prst="ellipse">
                <a:avLst/>
              </a:prstGeom>
              <a:solidFill>
                <a:srgbClr val="1110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9"/>
              <p:cNvSpPr/>
              <p:nvPr/>
            </p:nvSpPr>
            <p:spPr>
              <a:xfrm>
                <a:off x="340476" y="4950070"/>
                <a:ext cx="83100" cy="83100"/>
              </a:xfrm>
              <a:prstGeom prst="ellipse">
                <a:avLst/>
              </a:prstGeom>
              <a:solidFill>
                <a:srgbClr val="1110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9"/>
              <p:cNvSpPr/>
              <p:nvPr/>
            </p:nvSpPr>
            <p:spPr>
              <a:xfrm>
                <a:off x="606098" y="4950070"/>
                <a:ext cx="83100" cy="83100"/>
              </a:xfrm>
              <a:prstGeom prst="ellipse">
                <a:avLst/>
              </a:prstGeom>
              <a:solidFill>
                <a:srgbClr val="1110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9"/>
              <p:cNvSpPr/>
              <p:nvPr/>
            </p:nvSpPr>
            <p:spPr>
              <a:xfrm>
                <a:off x="865422" y="4950070"/>
                <a:ext cx="83100" cy="83100"/>
              </a:xfrm>
              <a:prstGeom prst="ellipse">
                <a:avLst/>
              </a:prstGeom>
              <a:solidFill>
                <a:srgbClr val="1110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>
            <a:spLocks noGrp="1"/>
          </p:cNvSpPr>
          <p:nvPr>
            <p:ph type="pic" idx="2"/>
          </p:nvPr>
        </p:nvSpPr>
        <p:spPr>
          <a:xfrm>
            <a:off x="100" y="-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81575"/>
            <a:ext cx="6576000" cy="1151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" name="Google Shape;85;p11"/>
          <p:cNvSpPr txBox="1">
            <a:spLocks noGrp="1"/>
          </p:cNvSpPr>
          <p:nvPr>
            <p:ph type="subTitle" idx="1"/>
          </p:nvPr>
        </p:nvSpPr>
        <p:spPr>
          <a:xfrm>
            <a:off x="1284000" y="2933275"/>
            <a:ext cx="6576000" cy="428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6" name="Google Shape;86;p11"/>
          <p:cNvGrpSpPr/>
          <p:nvPr/>
        </p:nvGrpSpPr>
        <p:grpSpPr>
          <a:xfrm>
            <a:off x="-273437" y="-9375"/>
            <a:ext cx="9280413" cy="5152872"/>
            <a:chOff x="-273437" y="-9375"/>
            <a:chExt cx="9280413" cy="5152872"/>
          </a:xfrm>
        </p:grpSpPr>
        <p:grpSp>
          <p:nvGrpSpPr>
            <p:cNvPr id="87" name="Google Shape;87;p11"/>
            <p:cNvGrpSpPr/>
            <p:nvPr/>
          </p:nvGrpSpPr>
          <p:grpSpPr>
            <a:xfrm>
              <a:off x="8655675" y="3932697"/>
              <a:ext cx="351300" cy="1210800"/>
              <a:chOff x="8655675" y="3932697"/>
              <a:chExt cx="351300" cy="1210800"/>
            </a:xfrm>
          </p:grpSpPr>
          <p:sp>
            <p:nvSpPr>
              <p:cNvPr id="88" name="Google Shape;88;p11"/>
              <p:cNvSpPr/>
              <p:nvPr/>
            </p:nvSpPr>
            <p:spPr>
              <a:xfrm rot="-5400000" flipH="1">
                <a:off x="8225925" y="4362447"/>
                <a:ext cx="1210800" cy="351300"/>
              </a:xfrm>
              <a:prstGeom prst="rect">
                <a:avLst/>
              </a:prstGeom>
              <a:solidFill>
                <a:srgbClr val="1110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9" name="Google Shape;89;p11"/>
              <p:cNvGrpSpPr/>
              <p:nvPr/>
            </p:nvGrpSpPr>
            <p:grpSpPr>
              <a:xfrm rot="-5400000" flipH="1">
                <a:off x="8478555" y="4213434"/>
                <a:ext cx="705541" cy="147700"/>
                <a:chOff x="715650" y="4605350"/>
                <a:chExt cx="2809800" cy="147700"/>
              </a:xfrm>
            </p:grpSpPr>
            <p:sp>
              <p:nvSpPr>
                <p:cNvPr id="90" name="Google Shape;90;p11"/>
                <p:cNvSpPr/>
                <p:nvPr/>
              </p:nvSpPr>
              <p:spPr>
                <a:xfrm>
                  <a:off x="715650" y="4605350"/>
                  <a:ext cx="2809800" cy="47700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11"/>
                <p:cNvSpPr/>
                <p:nvPr/>
              </p:nvSpPr>
              <p:spPr>
                <a:xfrm>
                  <a:off x="715650" y="4705350"/>
                  <a:ext cx="2809800" cy="47700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92" name="Google Shape;92;p11"/>
            <p:cNvPicPr preferRelativeResize="0"/>
            <p:nvPr/>
          </p:nvPicPr>
          <p:blipFill rotWithShape="1">
            <a:blip r:embed="rId2">
              <a:alphaModFix/>
            </a:blip>
            <a:srcRect b="48384"/>
            <a:stretch/>
          </p:blipFill>
          <p:spPr>
            <a:xfrm>
              <a:off x="-273437" y="-9375"/>
              <a:ext cx="1461286" cy="424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6" name="Google Shape;96;p13"/>
          <p:cNvGrpSpPr/>
          <p:nvPr/>
        </p:nvGrpSpPr>
        <p:grpSpPr>
          <a:xfrm flipH="1">
            <a:off x="-306825" y="-9375"/>
            <a:ext cx="9757661" cy="5159850"/>
            <a:chOff x="-306825" y="-9375"/>
            <a:chExt cx="9757661" cy="5159850"/>
          </a:xfrm>
        </p:grpSpPr>
        <p:sp>
          <p:nvSpPr>
            <p:cNvPr id="97" name="Google Shape;97;p13"/>
            <p:cNvSpPr/>
            <p:nvPr/>
          </p:nvSpPr>
          <p:spPr>
            <a:xfrm>
              <a:off x="5435600" y="4726200"/>
              <a:ext cx="3708300" cy="284100"/>
            </a:xfrm>
            <a:prstGeom prst="rect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8" name="Google Shape;98;p13"/>
            <p:cNvPicPr preferRelativeResize="0"/>
            <p:nvPr/>
          </p:nvPicPr>
          <p:blipFill rotWithShape="1">
            <a:blip r:embed="rId2">
              <a:alphaModFix/>
            </a:blip>
            <a:srcRect b="48384"/>
            <a:stretch/>
          </p:blipFill>
          <p:spPr>
            <a:xfrm>
              <a:off x="7989550" y="-9375"/>
              <a:ext cx="1461286" cy="424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3"/>
            <p:cNvPicPr preferRelativeResize="0"/>
            <p:nvPr/>
          </p:nvPicPr>
          <p:blipFill rotWithShape="1">
            <a:blip r:embed="rId2">
              <a:alphaModFix/>
            </a:blip>
            <a:srcRect b="48384"/>
            <a:stretch/>
          </p:blipFill>
          <p:spPr>
            <a:xfrm>
              <a:off x="-306825" y="4726200"/>
              <a:ext cx="1461286" cy="424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3"/>
            <p:cNvSpPr/>
            <p:nvPr/>
          </p:nvSpPr>
          <p:spPr>
            <a:xfrm>
              <a:off x="3524350" y="4859550"/>
              <a:ext cx="5619600" cy="2841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104" name="Google Shape;104;p14"/>
            <p:cNvGrpSpPr/>
            <p:nvPr/>
          </p:nvGrpSpPr>
          <p:grpSpPr>
            <a:xfrm flipH="1">
              <a:off x="5735998" y="0"/>
              <a:ext cx="3408002" cy="351300"/>
              <a:chOff x="23" y="0"/>
              <a:chExt cx="3408002" cy="351300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25" y="0"/>
                <a:ext cx="3408000" cy="351300"/>
              </a:xfrm>
              <a:prstGeom prst="rect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" name="Google Shape;106;p14"/>
              <p:cNvGrpSpPr/>
              <p:nvPr/>
            </p:nvGrpSpPr>
            <p:grpSpPr>
              <a:xfrm>
                <a:off x="23" y="101800"/>
                <a:ext cx="1531341" cy="147700"/>
                <a:chOff x="715650" y="4605350"/>
                <a:chExt cx="2809800" cy="147700"/>
              </a:xfrm>
            </p:grpSpPr>
            <p:sp>
              <p:nvSpPr>
                <p:cNvPr id="107" name="Google Shape;107;p14"/>
                <p:cNvSpPr/>
                <p:nvPr/>
              </p:nvSpPr>
              <p:spPr>
                <a:xfrm>
                  <a:off x="715650" y="4605350"/>
                  <a:ext cx="2809800" cy="47700"/>
                </a:xfrm>
                <a:prstGeom prst="rect">
                  <a:avLst/>
                </a:prstGeom>
                <a:solidFill>
                  <a:srgbClr val="11101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14"/>
                <p:cNvSpPr/>
                <p:nvPr/>
              </p:nvSpPr>
              <p:spPr>
                <a:xfrm>
                  <a:off x="715650" y="4705350"/>
                  <a:ext cx="2809800" cy="47700"/>
                </a:xfrm>
                <a:prstGeom prst="rect">
                  <a:avLst/>
                </a:prstGeom>
                <a:solidFill>
                  <a:srgbClr val="11101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9" name="Google Shape;109;p14"/>
            <p:cNvSpPr/>
            <p:nvPr/>
          </p:nvSpPr>
          <p:spPr>
            <a:xfrm>
              <a:off x="0" y="4977600"/>
              <a:ext cx="1985700" cy="165900"/>
            </a:xfrm>
            <a:prstGeom prst="rect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15"/>
          <p:cNvGrpSpPr/>
          <p:nvPr/>
        </p:nvGrpSpPr>
        <p:grpSpPr>
          <a:xfrm>
            <a:off x="-1342374" y="-1191626"/>
            <a:ext cx="10790924" cy="6765826"/>
            <a:chOff x="-1342374" y="-1191626"/>
            <a:chExt cx="10790924" cy="6765826"/>
          </a:xfrm>
        </p:grpSpPr>
        <p:grpSp>
          <p:nvGrpSpPr>
            <p:cNvPr id="113" name="Google Shape;113;p15"/>
            <p:cNvGrpSpPr/>
            <p:nvPr/>
          </p:nvGrpSpPr>
          <p:grpSpPr>
            <a:xfrm>
              <a:off x="-1342374" y="-1191626"/>
              <a:ext cx="2022074" cy="1946306"/>
              <a:chOff x="-685899" y="-433651"/>
              <a:chExt cx="2022074" cy="1946306"/>
            </a:xfrm>
          </p:grpSpPr>
          <p:pic>
            <p:nvPicPr>
              <p:cNvPr id="114" name="Google Shape;114;p1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-685899" y="-433651"/>
                <a:ext cx="1978725" cy="19463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" name="Google Shape;115;p15"/>
              <p:cNvSpPr/>
              <p:nvPr/>
            </p:nvSpPr>
            <p:spPr>
              <a:xfrm>
                <a:off x="962675" y="840102"/>
                <a:ext cx="373500" cy="373500"/>
              </a:xfrm>
              <a:prstGeom prst="ellipse">
                <a:avLst/>
              </a:prstGeom>
              <a:solidFill>
                <a:srgbClr val="1110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6" name="Google Shape;116;p15"/>
            <p:cNvSpPr/>
            <p:nvPr/>
          </p:nvSpPr>
          <p:spPr>
            <a:xfrm>
              <a:off x="8478350" y="4604000"/>
              <a:ext cx="970200" cy="970200"/>
            </a:xfrm>
            <a:prstGeom prst="ellipse">
              <a:avLst/>
            </a:prstGeom>
            <a:noFill/>
            <a:ln w="28575" cap="flat" cmpd="sng">
              <a:solidFill>
                <a:srgbClr val="1110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9" name="Google Shape;119;p16"/>
          <p:cNvGrpSpPr/>
          <p:nvPr/>
        </p:nvGrpSpPr>
        <p:grpSpPr>
          <a:xfrm>
            <a:off x="116105" y="0"/>
            <a:ext cx="9027895" cy="5040000"/>
            <a:chOff x="116105" y="0"/>
            <a:chExt cx="9027895" cy="5040000"/>
          </a:xfrm>
        </p:grpSpPr>
        <p:grpSp>
          <p:nvGrpSpPr>
            <p:cNvPr id="120" name="Google Shape;120;p16"/>
            <p:cNvGrpSpPr/>
            <p:nvPr/>
          </p:nvGrpSpPr>
          <p:grpSpPr>
            <a:xfrm>
              <a:off x="116105" y="4523100"/>
              <a:ext cx="516900" cy="516900"/>
              <a:chOff x="8172330" y="2673275"/>
              <a:chExt cx="516900" cy="516900"/>
            </a:xfrm>
          </p:grpSpPr>
          <p:sp>
            <p:nvSpPr>
              <p:cNvPr id="121" name="Google Shape;121;p16"/>
              <p:cNvSpPr/>
              <p:nvPr/>
            </p:nvSpPr>
            <p:spPr>
              <a:xfrm>
                <a:off x="8255115" y="2756075"/>
                <a:ext cx="351300" cy="351300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6"/>
              <p:cNvSpPr/>
              <p:nvPr/>
            </p:nvSpPr>
            <p:spPr>
              <a:xfrm>
                <a:off x="8172330" y="2673275"/>
                <a:ext cx="516900" cy="516900"/>
              </a:xfrm>
              <a:prstGeom prst="ellipse">
                <a:avLst/>
              </a:prstGeom>
              <a:noFill/>
              <a:ln w="28575" cap="flat" cmpd="sng">
                <a:solidFill>
                  <a:srgbClr val="11101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" name="Google Shape;123;p16"/>
            <p:cNvSpPr/>
            <p:nvPr/>
          </p:nvSpPr>
          <p:spPr>
            <a:xfrm rot="-5400000">
              <a:off x="8265000" y="594900"/>
              <a:ext cx="1473900" cy="284100"/>
            </a:xfrm>
            <a:prstGeom prst="rect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_1_1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7"/>
          <p:cNvGrpSpPr/>
          <p:nvPr/>
        </p:nvGrpSpPr>
        <p:grpSpPr>
          <a:xfrm>
            <a:off x="23" y="0"/>
            <a:ext cx="3408002" cy="351300"/>
            <a:chOff x="23" y="0"/>
            <a:chExt cx="3408002" cy="351300"/>
          </a:xfrm>
        </p:grpSpPr>
        <p:sp>
          <p:nvSpPr>
            <p:cNvPr id="126" name="Google Shape;126;p17"/>
            <p:cNvSpPr/>
            <p:nvPr/>
          </p:nvSpPr>
          <p:spPr>
            <a:xfrm>
              <a:off x="25" y="0"/>
              <a:ext cx="3408000" cy="3513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" name="Google Shape;127;p17"/>
            <p:cNvGrpSpPr/>
            <p:nvPr/>
          </p:nvGrpSpPr>
          <p:grpSpPr>
            <a:xfrm>
              <a:off x="23" y="101800"/>
              <a:ext cx="1531341" cy="147700"/>
              <a:chOff x="715650" y="4605350"/>
              <a:chExt cx="2809800" cy="147700"/>
            </a:xfrm>
          </p:grpSpPr>
          <p:sp>
            <p:nvSpPr>
              <p:cNvPr id="128" name="Google Shape;128;p17"/>
              <p:cNvSpPr/>
              <p:nvPr/>
            </p:nvSpPr>
            <p:spPr>
              <a:xfrm>
                <a:off x="715650" y="4605350"/>
                <a:ext cx="2809800" cy="47700"/>
              </a:xfrm>
              <a:prstGeom prst="rect">
                <a:avLst/>
              </a:prstGeom>
              <a:solidFill>
                <a:srgbClr val="1110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7"/>
              <p:cNvSpPr/>
              <p:nvPr/>
            </p:nvSpPr>
            <p:spPr>
              <a:xfrm>
                <a:off x="715650" y="4705350"/>
                <a:ext cx="2809800" cy="47700"/>
              </a:xfrm>
              <a:prstGeom prst="rect">
                <a:avLst/>
              </a:prstGeom>
              <a:solidFill>
                <a:srgbClr val="11101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1" name="Google Shape;131;p17"/>
          <p:cNvGrpSpPr/>
          <p:nvPr/>
        </p:nvGrpSpPr>
        <p:grpSpPr>
          <a:xfrm rot="5400000" flipH="1">
            <a:off x="8408153" y="4282862"/>
            <a:ext cx="970041" cy="126300"/>
            <a:chOff x="6435928" y="2154143"/>
            <a:chExt cx="970041" cy="126300"/>
          </a:xfrm>
        </p:grpSpPr>
        <p:sp>
          <p:nvSpPr>
            <p:cNvPr id="132" name="Google Shape;132;p17"/>
            <p:cNvSpPr/>
            <p:nvPr/>
          </p:nvSpPr>
          <p:spPr>
            <a:xfrm>
              <a:off x="6435928" y="2154143"/>
              <a:ext cx="126300" cy="126300"/>
            </a:xfrm>
            <a:prstGeom prst="ellipse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6713987" y="2154143"/>
              <a:ext cx="126300" cy="126300"/>
            </a:xfrm>
            <a:prstGeom prst="ellipse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7001609" y="2154143"/>
              <a:ext cx="126300" cy="126300"/>
            </a:xfrm>
            <a:prstGeom prst="ellipse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7279668" y="2154143"/>
              <a:ext cx="126300" cy="126300"/>
            </a:xfrm>
            <a:prstGeom prst="ellipse">
              <a:avLst/>
            </a:prstGeom>
            <a:solidFill>
              <a:srgbClr val="1110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ctrTitle"/>
          </p:nvPr>
        </p:nvSpPr>
        <p:spPr>
          <a:xfrm>
            <a:off x="457199" y="1097425"/>
            <a:ext cx="6539653" cy="243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Bank Loan Analysis &amp; Credit Risk Dashboard</a:t>
            </a:r>
            <a:endParaRPr sz="4800" dirty="0"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457200" y="3694750"/>
            <a:ext cx="5948700" cy="3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b="1" dirty="0">
                <a:latin typeface="Bahnschrift" panose="020B0502040204020203" pitchFamily="34" charset="0"/>
              </a:rPr>
              <a:t>End-to-End Data Analytics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AC2AA-74B9-41BD-AB3D-9CD24807B61C}"/>
              </a:ext>
            </a:extLst>
          </p:cNvPr>
          <p:cNvSpPr txBox="1"/>
          <p:nvPr/>
        </p:nvSpPr>
        <p:spPr>
          <a:xfrm>
            <a:off x="612986" y="4052823"/>
            <a:ext cx="5025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Prepared by: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Mohammad Faiz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Tools Used: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MySQL | Power BI | Excel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214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Project Overview</a:t>
            </a:r>
            <a:endParaRPr dirty="0"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4294967295"/>
          </p:nvPr>
        </p:nvSpPr>
        <p:spPr>
          <a:xfrm>
            <a:off x="457200" y="1577750"/>
            <a:ext cx="7704000" cy="1111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-US" dirty="0"/>
              <a:t>The objective of this project is to analyze bank loan data to:</a:t>
            </a:r>
            <a:endParaRPr sz="1200" dirty="0"/>
          </a:p>
          <a:p>
            <a:pPr lvl="1"/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loan disbursement trends</a:t>
            </a:r>
            <a:endParaRPr sz="1200" dirty="0"/>
          </a:p>
          <a:p>
            <a:pPr lvl="1"/>
            <a:r>
              <a:rPr lang="en-IN" dirty="0"/>
              <a:t>Analyse repayment behaviour</a:t>
            </a:r>
            <a:endParaRPr lang="en-IN" sz="1200" dirty="0"/>
          </a:p>
          <a:p>
            <a:pPr lvl="1"/>
            <a:r>
              <a:rPr lang="en-IN" dirty="0"/>
              <a:t>Identify default risk patterns</a:t>
            </a:r>
            <a:endParaRPr lang="en" sz="1200" dirty="0"/>
          </a:p>
          <a:p>
            <a:pPr lvl="1"/>
            <a:r>
              <a:rPr lang="en-IN" dirty="0"/>
              <a:t>Support data-driven lending decisions</a:t>
            </a: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200" dirty="0"/>
          </a:p>
        </p:txBody>
      </p:sp>
      <p:sp>
        <p:nvSpPr>
          <p:cNvPr id="4" name="Google Shape;150;p21">
            <a:extLst>
              <a:ext uri="{FF2B5EF4-FFF2-40B4-BE49-F238E27FC236}">
                <a16:creationId xmlns:a16="http://schemas.microsoft.com/office/drawing/2014/main" id="{08B1262C-E31D-48DD-87CB-6E7671AB90A7}"/>
              </a:ext>
            </a:extLst>
          </p:cNvPr>
          <p:cNvSpPr txBox="1">
            <a:spLocks/>
          </p:cNvSpPr>
          <p:nvPr/>
        </p:nvSpPr>
        <p:spPr>
          <a:xfrm>
            <a:off x="457200" y="1036320"/>
            <a:ext cx="1778000" cy="476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algn="l"/>
            <a:r>
              <a:rPr lang="en-IN" sz="1600" dirty="0"/>
              <a:t>📌 Objective</a:t>
            </a:r>
          </a:p>
        </p:txBody>
      </p:sp>
      <p:sp>
        <p:nvSpPr>
          <p:cNvPr id="8" name="Google Shape;151;p21">
            <a:extLst>
              <a:ext uri="{FF2B5EF4-FFF2-40B4-BE49-F238E27FC236}">
                <a16:creationId xmlns:a16="http://schemas.microsoft.com/office/drawing/2014/main" id="{03EECB68-D347-4D2F-B201-7820CD0051CB}"/>
              </a:ext>
            </a:extLst>
          </p:cNvPr>
          <p:cNvSpPr txBox="1">
            <a:spLocks/>
          </p:cNvSpPr>
          <p:nvPr/>
        </p:nvSpPr>
        <p:spPr>
          <a:xfrm>
            <a:off x="457200" y="2732606"/>
            <a:ext cx="7704000" cy="111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>
              <a:buFont typeface="Inter"/>
              <a:buChar char="●"/>
            </a:pPr>
            <a:r>
              <a:rPr lang="en-US" dirty="0"/>
              <a:t>Scope:</a:t>
            </a:r>
          </a:p>
          <a:p>
            <a:pPr lvl="1"/>
            <a:r>
              <a:rPr lang="en-IN" dirty="0"/>
              <a:t>Customer-level loan data analysis</a:t>
            </a:r>
            <a:endParaRPr lang="en-US" dirty="0"/>
          </a:p>
          <a:p>
            <a:pPr lvl="1"/>
            <a:r>
              <a:rPr lang="en-IN" dirty="0"/>
              <a:t>Credit risk segmentation</a:t>
            </a:r>
            <a:endParaRPr lang="en-US" dirty="0"/>
          </a:p>
          <a:p>
            <a:pPr lvl="1"/>
            <a:r>
              <a:rPr lang="en-IN" dirty="0"/>
              <a:t>Interactive dashboards for insights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Font typeface="Inter Medium"/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Dataset Description</a:t>
            </a:r>
            <a:endParaRPr dirty="0"/>
          </a:p>
        </p:txBody>
      </p:sp>
      <p:sp>
        <p:nvSpPr>
          <p:cNvPr id="47" name="Google Shape;151;p21">
            <a:extLst>
              <a:ext uri="{FF2B5EF4-FFF2-40B4-BE49-F238E27FC236}">
                <a16:creationId xmlns:a16="http://schemas.microsoft.com/office/drawing/2014/main" id="{6068A50D-12CC-4DE0-BF52-F291733220AD}"/>
              </a:ext>
            </a:extLst>
          </p:cNvPr>
          <p:cNvSpPr txBox="1">
            <a:spLocks/>
          </p:cNvSpPr>
          <p:nvPr/>
        </p:nvSpPr>
        <p:spPr>
          <a:xfrm>
            <a:off x="443654" y="1188290"/>
            <a:ext cx="7704000" cy="111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>
              <a:buFont typeface="Inter"/>
              <a:buChar char="●"/>
            </a:pPr>
            <a:r>
              <a:rPr lang="en-US" b="1" dirty="0"/>
              <a:t>Dataset Overview</a:t>
            </a:r>
            <a:endParaRPr lang="en-US" dirty="0"/>
          </a:p>
          <a:p>
            <a:pPr lvl="1"/>
            <a:r>
              <a:rPr lang="en-US" dirty="0"/>
              <a:t>Source: Bank Loan Dataset (CSV)</a:t>
            </a:r>
          </a:p>
          <a:p>
            <a:pPr lvl="1"/>
            <a:r>
              <a:rPr lang="en-IN" dirty="0"/>
              <a:t>Records: Individual loan-level data</a:t>
            </a:r>
            <a:endParaRPr lang="en-US" dirty="0"/>
          </a:p>
          <a:p>
            <a:pPr lvl="1"/>
            <a:r>
              <a:rPr lang="en-IN" dirty="0"/>
              <a:t>Nature: Historical loan performance data</a:t>
            </a:r>
            <a:endParaRPr lang="en-US" dirty="0"/>
          </a:p>
        </p:txBody>
      </p:sp>
      <p:sp>
        <p:nvSpPr>
          <p:cNvPr id="48" name="Google Shape;151;p21">
            <a:extLst>
              <a:ext uri="{FF2B5EF4-FFF2-40B4-BE49-F238E27FC236}">
                <a16:creationId xmlns:a16="http://schemas.microsoft.com/office/drawing/2014/main" id="{0D8F189B-A611-4689-8AD9-6AD97F7AC53E}"/>
              </a:ext>
            </a:extLst>
          </p:cNvPr>
          <p:cNvSpPr txBox="1">
            <a:spLocks/>
          </p:cNvSpPr>
          <p:nvPr/>
        </p:nvSpPr>
        <p:spPr>
          <a:xfrm>
            <a:off x="457200" y="2300410"/>
            <a:ext cx="7704000" cy="1899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>
              <a:buFont typeface="Inter"/>
              <a:buChar char="●"/>
            </a:pPr>
            <a:r>
              <a:rPr lang="en-IN" b="1" dirty="0"/>
              <a:t>Key Fields</a:t>
            </a:r>
          </a:p>
          <a:p>
            <a:pPr lvl="1"/>
            <a:r>
              <a:rPr lang="en-IN" dirty="0"/>
              <a:t>Loan Amount</a:t>
            </a:r>
          </a:p>
          <a:p>
            <a:pPr lvl="1"/>
            <a:r>
              <a:rPr lang="en-IN" dirty="0"/>
              <a:t>Interest Rate</a:t>
            </a:r>
          </a:p>
          <a:p>
            <a:pPr lvl="1"/>
            <a:r>
              <a:rPr lang="en-IN" dirty="0"/>
              <a:t>Loan Status</a:t>
            </a:r>
          </a:p>
          <a:p>
            <a:pPr lvl="1"/>
            <a:r>
              <a:rPr lang="en-IN" dirty="0"/>
              <a:t>Grade &amp; Sub-Grade</a:t>
            </a:r>
          </a:p>
          <a:p>
            <a:pPr lvl="1"/>
            <a:r>
              <a:rPr lang="en-IN" dirty="0"/>
              <a:t>Issue Date</a:t>
            </a:r>
          </a:p>
          <a:p>
            <a:pPr lvl="1"/>
            <a:r>
              <a:rPr lang="en-IN" dirty="0"/>
              <a:t>Total Payment</a:t>
            </a:r>
          </a:p>
          <a:p>
            <a:pPr lvl="1"/>
            <a:r>
              <a:rPr lang="en-IN" dirty="0"/>
              <a:t>State &amp; Home Ownership</a:t>
            </a:r>
          </a:p>
          <a:p>
            <a:pPr lvl="1"/>
            <a:r>
              <a:rPr lang="en-IN" dirty="0"/>
              <a:t>Verification Status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Tools &amp; Technology Stack</a:t>
            </a:r>
            <a:endParaRPr dirty="0"/>
          </a:p>
        </p:txBody>
      </p:sp>
      <p:sp>
        <p:nvSpPr>
          <p:cNvPr id="41" name="Google Shape;151;p21">
            <a:extLst>
              <a:ext uri="{FF2B5EF4-FFF2-40B4-BE49-F238E27FC236}">
                <a16:creationId xmlns:a16="http://schemas.microsoft.com/office/drawing/2014/main" id="{3F7A817B-39FF-4E50-9378-43DB946D93D7}"/>
              </a:ext>
            </a:extLst>
          </p:cNvPr>
          <p:cNvSpPr txBox="1">
            <a:spLocks/>
          </p:cNvSpPr>
          <p:nvPr/>
        </p:nvSpPr>
        <p:spPr>
          <a:xfrm>
            <a:off x="382695" y="1737314"/>
            <a:ext cx="7704000" cy="138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 marL="152400" indent="0">
              <a:buNone/>
            </a:pPr>
            <a:r>
              <a:rPr lang="en-IN" b="1" dirty="0"/>
              <a:t>🛠 Tools Used</a:t>
            </a:r>
          </a:p>
          <a:p>
            <a:pPr marL="152400" indent="0">
              <a:buNone/>
            </a:pPr>
            <a:endParaRPr lang="en-IN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Excel:</a:t>
            </a:r>
            <a:r>
              <a:rPr lang="en-IN" dirty="0"/>
              <a:t> Initial data inspection and formatting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MySQL:</a:t>
            </a:r>
            <a:r>
              <a:rPr lang="en-IN" dirty="0"/>
              <a:t> Data cleaning, transformation &amp; KPI calculation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Power BI:</a:t>
            </a:r>
            <a:r>
              <a:rPr lang="en-IN" dirty="0"/>
              <a:t> Interactive analytical dashboard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Data Cleaning &amp; Preparation</a:t>
            </a:r>
            <a:endParaRPr dirty="0"/>
          </a:p>
        </p:txBody>
      </p:sp>
      <p:sp>
        <p:nvSpPr>
          <p:cNvPr id="27" name="Google Shape;151;p21">
            <a:extLst>
              <a:ext uri="{FF2B5EF4-FFF2-40B4-BE49-F238E27FC236}">
                <a16:creationId xmlns:a16="http://schemas.microsoft.com/office/drawing/2014/main" id="{669B5CA7-38F7-40A0-8649-C7C47151A610}"/>
              </a:ext>
            </a:extLst>
          </p:cNvPr>
          <p:cNvSpPr txBox="1">
            <a:spLocks/>
          </p:cNvSpPr>
          <p:nvPr/>
        </p:nvSpPr>
        <p:spPr>
          <a:xfrm>
            <a:off x="457200" y="1047111"/>
            <a:ext cx="7704000" cy="368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 marL="152400" indent="0">
              <a:buNone/>
            </a:pPr>
            <a:r>
              <a:rPr lang="en-IN" b="1" dirty="0"/>
              <a:t>🧹 Data Cleaning Steps</a:t>
            </a:r>
          </a:p>
          <a:p>
            <a:pPr marL="152400" indent="0">
              <a:buNone/>
            </a:pPr>
            <a:endParaRPr lang="en-IN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Standardized date formats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Corrected data types for numeric and date fields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Handled missing and inconsistent values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Removed unnecessary columns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Created clean master dataset</a:t>
            </a:r>
          </a:p>
          <a:p>
            <a:pPr marL="152400" indent="0">
              <a:buNone/>
            </a:pPr>
            <a:endParaRPr lang="en-IN" dirty="0"/>
          </a:p>
          <a:p>
            <a:pPr marL="152400" indent="0">
              <a:buNone/>
            </a:pPr>
            <a:r>
              <a:rPr lang="en-IN" b="1" dirty="0"/>
              <a:t>🗄 Database Processing</a:t>
            </a:r>
          </a:p>
          <a:p>
            <a:pPr marL="152400" indent="0">
              <a:buNone/>
            </a:pPr>
            <a:endParaRPr lang="en-IN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Created MySQL tables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Imported cleaned CSV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Validated data integrity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Calculated KPIs using SQL queries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>
            <a:spLocks noGrp="1"/>
          </p:cNvSpPr>
          <p:nvPr>
            <p:ph type="title"/>
          </p:nvPr>
        </p:nvSpPr>
        <p:spPr>
          <a:xfrm>
            <a:off x="457200" y="387192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Key Performance Indicators (KPIs)</a:t>
            </a:r>
            <a:endParaRPr dirty="0"/>
          </a:p>
        </p:txBody>
      </p:sp>
      <p:sp>
        <p:nvSpPr>
          <p:cNvPr id="37" name="Google Shape;151;p21">
            <a:extLst>
              <a:ext uri="{FF2B5EF4-FFF2-40B4-BE49-F238E27FC236}">
                <a16:creationId xmlns:a16="http://schemas.microsoft.com/office/drawing/2014/main" id="{2926DA75-978E-4B5A-8D02-531F26CCCAEA}"/>
              </a:ext>
            </a:extLst>
          </p:cNvPr>
          <p:cNvSpPr txBox="1">
            <a:spLocks/>
          </p:cNvSpPr>
          <p:nvPr/>
        </p:nvSpPr>
        <p:spPr>
          <a:xfrm>
            <a:off x="457200" y="1137169"/>
            <a:ext cx="7704000" cy="3857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 marL="152400" indent="0">
              <a:buNone/>
            </a:pPr>
            <a:r>
              <a:rPr lang="en-US" b="1" dirty="0"/>
              <a:t>📈 KPIs Used</a:t>
            </a:r>
          </a:p>
          <a:p>
            <a:pPr marL="152400" indent="0">
              <a:buNone/>
            </a:pP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Total Customers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Total Loan Amount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Total Amount Paid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Average Interest Rate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Default Rate (%)</a:t>
            </a:r>
            <a:endParaRPr lang="en-US" dirty="0"/>
          </a:p>
          <a:p>
            <a:pPr marL="152400" indent="0">
              <a:buNone/>
            </a:pPr>
            <a:endParaRPr lang="en-US" b="1" dirty="0"/>
          </a:p>
          <a:p>
            <a:pPr marL="152400" indent="0">
              <a:buNone/>
            </a:pPr>
            <a:r>
              <a:rPr lang="en-US" b="1" dirty="0"/>
              <a:t>💼 Business Value</a:t>
            </a:r>
          </a:p>
          <a:p>
            <a:pPr marL="152400" indent="0">
              <a:buNone/>
            </a:pPr>
            <a:endParaRPr lang="en-US" b="1" dirty="0"/>
          </a:p>
          <a:p>
            <a:r>
              <a:rPr lang="en-US" dirty="0"/>
              <a:t>These KPIs help assess: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Portfolio size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Lending exposure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Repayment performance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Credit risk level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 txBox="1">
            <a:spLocks noGrp="1"/>
          </p:cNvSpPr>
          <p:nvPr>
            <p:ph type="title"/>
          </p:nvPr>
        </p:nvSpPr>
        <p:spPr>
          <a:xfrm>
            <a:off x="173182" y="137813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Dashboard &amp; Visual Analysis</a:t>
            </a:r>
            <a:endParaRPr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1" name="Add-in" descr="Add-in content for Microsoft Power BI.">
                <a:extLst>
                  <a:ext uri="{FF2B5EF4-FFF2-40B4-BE49-F238E27FC236}">
                    <a16:creationId xmlns:a16="http://schemas.microsoft.com/office/drawing/2014/main" id="{9CD1F8ED-30BF-4CDB-AE0C-E6D4CC3E81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5371615"/>
                  </p:ext>
                </p:extLst>
              </p:nvPr>
            </p:nvGraphicFramePr>
            <p:xfrm>
              <a:off x="928253" y="765382"/>
              <a:ext cx="7474529" cy="401971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1" name="Add-in" descr="Add-in content for Microsoft Power BI.">
                <a:extLst>
                  <a:ext uri="{FF2B5EF4-FFF2-40B4-BE49-F238E27FC236}">
                    <a16:creationId xmlns:a16="http://schemas.microsoft.com/office/drawing/2014/main" id="{9CD1F8ED-30BF-4CDB-AE0C-E6D4CC3E81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8253" y="765382"/>
                <a:ext cx="7474529" cy="4019713"/>
              </a:xfrm>
              <a:prstGeom prst="rect">
                <a:avLst/>
              </a:prstGeom>
            </p:spPr>
          </p:pic>
        </mc:Fallback>
      </mc:AlternateContent>
      <p:sp>
        <p:nvSpPr>
          <p:cNvPr id="62" name="Google Shape;332;p26">
            <a:extLst>
              <a:ext uri="{FF2B5EF4-FFF2-40B4-BE49-F238E27FC236}">
                <a16:creationId xmlns:a16="http://schemas.microsoft.com/office/drawing/2014/main" id="{8389FD35-70A0-4C21-A982-DE011DCEA36A}"/>
              </a:ext>
            </a:extLst>
          </p:cNvPr>
          <p:cNvSpPr txBox="1">
            <a:spLocks/>
          </p:cNvSpPr>
          <p:nvPr/>
        </p:nvSpPr>
        <p:spPr>
          <a:xfrm>
            <a:off x="6761019" y="4822114"/>
            <a:ext cx="2251363" cy="262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r>
              <a:rPr lang="en-IN" sz="700" dirty="0"/>
              <a:t>To Check Visual Login With Work Mail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 txBox="1">
            <a:spLocks noGrp="1"/>
          </p:cNvSpPr>
          <p:nvPr>
            <p:ph type="title"/>
          </p:nvPr>
        </p:nvSpPr>
        <p:spPr>
          <a:xfrm>
            <a:off x="173182" y="137813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Dashboard &amp; Visual Analysis</a:t>
            </a:r>
            <a:endParaRPr dirty="0"/>
          </a:p>
        </p:txBody>
      </p:sp>
      <p:sp>
        <p:nvSpPr>
          <p:cNvPr id="4" name="Google Shape;151;p21">
            <a:extLst>
              <a:ext uri="{FF2B5EF4-FFF2-40B4-BE49-F238E27FC236}">
                <a16:creationId xmlns:a16="http://schemas.microsoft.com/office/drawing/2014/main" id="{6DDE40A9-311D-41C4-875E-BC250463CB27}"/>
              </a:ext>
            </a:extLst>
          </p:cNvPr>
          <p:cNvSpPr txBox="1">
            <a:spLocks/>
          </p:cNvSpPr>
          <p:nvPr/>
        </p:nvSpPr>
        <p:spPr>
          <a:xfrm>
            <a:off x="948601" y="767299"/>
            <a:ext cx="7704000" cy="3857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 marL="152400" indent="0">
              <a:buNone/>
            </a:pPr>
            <a:r>
              <a:rPr lang="en-US" b="1" dirty="0"/>
              <a:t>📊 Key Visuals Created</a:t>
            </a:r>
          </a:p>
          <a:p>
            <a:pPr marL="152400" indent="0">
              <a:buNone/>
            </a:pP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Year-wise Loan Amount Trend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State-wise Loan Status Distribution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Verified vs Non-Verified Payment Analysis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Grade &amp; Sub-Grade Revolving Balance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Month-wise Loan Status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Home Ownership vs Last Payment Amount</a:t>
            </a:r>
          </a:p>
          <a:p>
            <a:pPr marL="152400" indent="0">
              <a:buNone/>
            </a:pPr>
            <a:endParaRPr lang="en-US" b="1" dirty="0"/>
          </a:p>
          <a:p>
            <a:pPr marL="152400" indent="0">
              <a:buNone/>
            </a:pPr>
            <a:r>
              <a:rPr lang="en-US" b="1" dirty="0"/>
              <a:t>🎛 Filters Used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Issue Year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Grade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Loan Status</a:t>
            </a:r>
          </a:p>
        </p:txBody>
      </p:sp>
    </p:spTree>
    <p:extLst>
      <p:ext uri="{BB962C8B-B14F-4D97-AF65-F5344CB8AC3E}">
        <p14:creationId xmlns:p14="http://schemas.microsoft.com/office/powerpoint/2010/main" val="22872399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Key Insights &amp; Findings</a:t>
            </a:r>
            <a:endParaRPr dirty="0"/>
          </a:p>
        </p:txBody>
      </p:sp>
      <p:graphicFrame>
        <p:nvGraphicFramePr>
          <p:cNvPr id="379" name="Google Shape;379;p27"/>
          <p:cNvGraphicFramePr/>
          <p:nvPr>
            <p:extLst>
              <p:ext uri="{D42A27DB-BD31-4B8C-83A1-F6EECF244321}">
                <p14:modId xmlns:p14="http://schemas.microsoft.com/office/powerpoint/2010/main" val="3966502446"/>
              </p:ext>
            </p:extLst>
          </p:nvPr>
        </p:nvGraphicFramePr>
        <p:xfrm>
          <a:off x="503204" y="1315709"/>
          <a:ext cx="7672212" cy="2978585"/>
        </p:xfrm>
        <a:graphic>
          <a:graphicData uri="http://schemas.openxmlformats.org/drawingml/2006/table">
            <a:tbl>
              <a:tblPr>
                <a:noFill/>
                <a:tableStyleId>{34A916F5-EDC8-4B9E-81DA-F01D3221CF54}</a:tableStyleId>
              </a:tblPr>
              <a:tblGrid>
                <a:gridCol w="7672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398">
                <a:tc>
                  <a:txBody>
                    <a:bodyPr/>
                    <a:lstStyle/>
                    <a:p>
                      <a:r>
                        <a:rPr lang="en-IN" sz="1600" b="1" dirty="0"/>
                        <a:t>🔍 Major Insights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895">
                <a:tc>
                  <a:txBody>
                    <a:bodyPr/>
                    <a:lstStyle/>
                    <a:p>
                      <a:pPr marL="365760" marR="0" lvl="0" indent="-213359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 Medium"/>
                        <a:buChar char="●"/>
                        <a:tabLst/>
                        <a:defRPr/>
                      </a:pPr>
                      <a:r>
                        <a:rPr lang="en-US" sz="1200" dirty="0"/>
                        <a:t>Lower credit grades show higher default rates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365760" marR="0" lvl="0" indent="-213359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 Medium"/>
                        <a:buChar char="●"/>
                        <a:tabLst/>
                        <a:defRPr/>
                      </a:pPr>
                      <a:r>
                        <a:rPr lang="en-US" sz="1200" dirty="0"/>
                        <a:t>Verified customers demonstrate better repayment behavior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365760" marR="0" lvl="0" indent="-213359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 Medium"/>
                        <a:buChar char="●"/>
                        <a:tabLst/>
                        <a:defRPr/>
                      </a:pPr>
                      <a:r>
                        <a:rPr lang="en-US" sz="1200" dirty="0"/>
                        <a:t>Certain states contribute higher charged-off loans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093">
                <a:tc>
                  <a:txBody>
                    <a:bodyPr/>
                    <a:lstStyle/>
                    <a:p>
                      <a:pPr marL="365760" marR="0" lvl="0" indent="-213359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 Medium"/>
                        <a:buChar char="●"/>
                        <a:tabLst/>
                        <a:defRPr/>
                      </a:pPr>
                      <a:r>
                        <a:rPr lang="en-US" sz="1200" dirty="0"/>
                        <a:t>Seasonal trends impact loan issuance and defaults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519836"/>
                  </a:ext>
                </a:extLst>
              </a:tr>
              <a:tr h="541867">
                <a:tc>
                  <a:txBody>
                    <a:bodyPr/>
                    <a:lstStyle/>
                    <a:p>
                      <a:pPr marL="365760" marR="0" lvl="0" indent="-213359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 Medium"/>
                        <a:buChar char="●"/>
                        <a:tabLst/>
                        <a:defRPr/>
                      </a:pPr>
                      <a:r>
                        <a:rPr lang="en-US" sz="1200" dirty="0"/>
                        <a:t>Home ownership influences repayment capacity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8964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4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Business Recommendations</a:t>
            </a:r>
            <a:endParaRPr dirty="0"/>
          </a:p>
        </p:txBody>
      </p:sp>
      <p:sp>
        <p:nvSpPr>
          <p:cNvPr id="579" name="Google Shape;579;p34"/>
          <p:cNvSpPr txBox="1"/>
          <p:nvPr/>
        </p:nvSpPr>
        <p:spPr>
          <a:xfrm>
            <a:off x="269727" y="2738363"/>
            <a:ext cx="1647366" cy="145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600" dirty="0"/>
              <a:t>Strengthen credit screening for lower-grade loans</a:t>
            </a:r>
          </a:p>
        </p:txBody>
      </p:sp>
      <p:sp>
        <p:nvSpPr>
          <p:cNvPr id="582" name="Google Shape;582;p34"/>
          <p:cNvSpPr txBox="1"/>
          <p:nvPr/>
        </p:nvSpPr>
        <p:spPr>
          <a:xfrm>
            <a:off x="1926750" y="1900007"/>
            <a:ext cx="1454326" cy="123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1600" dirty="0"/>
              <a:t>Encourage income verification for applicants</a:t>
            </a:r>
          </a:p>
        </p:txBody>
      </p:sp>
      <p:sp>
        <p:nvSpPr>
          <p:cNvPr id="585" name="Google Shape;585;p34"/>
          <p:cNvSpPr txBox="1"/>
          <p:nvPr/>
        </p:nvSpPr>
        <p:spPr>
          <a:xfrm>
            <a:off x="3565384" y="1299889"/>
            <a:ext cx="1566203" cy="135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600" dirty="0"/>
              <a:t>Monitor regional credit risk proactively</a:t>
            </a:r>
          </a:p>
        </p:txBody>
      </p:sp>
      <p:sp>
        <p:nvSpPr>
          <p:cNvPr id="588" name="Google Shape;588;p34"/>
          <p:cNvSpPr txBox="1"/>
          <p:nvPr/>
        </p:nvSpPr>
        <p:spPr>
          <a:xfrm>
            <a:off x="5348236" y="1798542"/>
            <a:ext cx="1647365" cy="145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600" dirty="0"/>
              <a:t>Adjust lending strategies during high-risk months</a:t>
            </a:r>
          </a:p>
        </p:txBody>
      </p:sp>
      <p:sp>
        <p:nvSpPr>
          <p:cNvPr id="19" name="Google Shape;588;p34">
            <a:extLst>
              <a:ext uri="{FF2B5EF4-FFF2-40B4-BE49-F238E27FC236}">
                <a16:creationId xmlns:a16="http://schemas.microsoft.com/office/drawing/2014/main" id="{3C98CD98-336B-4EB4-A312-FC5097AF21E2}"/>
              </a:ext>
            </a:extLst>
          </p:cNvPr>
          <p:cNvSpPr txBox="1"/>
          <p:nvPr/>
        </p:nvSpPr>
        <p:spPr>
          <a:xfrm>
            <a:off x="6945705" y="2557636"/>
            <a:ext cx="1608508" cy="145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600" dirty="0"/>
              <a:t>Design customized loan products by customer profile</a:t>
            </a:r>
          </a:p>
        </p:txBody>
      </p:sp>
      <p:sp>
        <p:nvSpPr>
          <p:cNvPr id="20" name="Google Shape;851;p43">
            <a:extLst>
              <a:ext uri="{FF2B5EF4-FFF2-40B4-BE49-F238E27FC236}">
                <a16:creationId xmlns:a16="http://schemas.microsoft.com/office/drawing/2014/main" id="{731165D0-3938-4357-AD5F-B74E5F38D71A}"/>
              </a:ext>
            </a:extLst>
          </p:cNvPr>
          <p:cNvSpPr/>
          <p:nvPr/>
        </p:nvSpPr>
        <p:spPr>
          <a:xfrm>
            <a:off x="269727" y="2517562"/>
            <a:ext cx="1647365" cy="1576197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851;p43">
            <a:extLst>
              <a:ext uri="{FF2B5EF4-FFF2-40B4-BE49-F238E27FC236}">
                <a16:creationId xmlns:a16="http://schemas.microsoft.com/office/drawing/2014/main" id="{95135DBC-0DD7-4D81-8926-26F021B205C3}"/>
              </a:ext>
            </a:extLst>
          </p:cNvPr>
          <p:cNvSpPr/>
          <p:nvPr/>
        </p:nvSpPr>
        <p:spPr>
          <a:xfrm>
            <a:off x="1830231" y="1680975"/>
            <a:ext cx="1647365" cy="1576197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851;p43">
            <a:extLst>
              <a:ext uri="{FF2B5EF4-FFF2-40B4-BE49-F238E27FC236}">
                <a16:creationId xmlns:a16="http://schemas.microsoft.com/office/drawing/2014/main" id="{10D56BFD-9573-4DDF-AE8F-890E812E810D}"/>
              </a:ext>
            </a:extLst>
          </p:cNvPr>
          <p:cNvSpPr/>
          <p:nvPr/>
        </p:nvSpPr>
        <p:spPr>
          <a:xfrm>
            <a:off x="3511831" y="1087683"/>
            <a:ext cx="1647365" cy="1576197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851;p43">
            <a:extLst>
              <a:ext uri="{FF2B5EF4-FFF2-40B4-BE49-F238E27FC236}">
                <a16:creationId xmlns:a16="http://schemas.microsoft.com/office/drawing/2014/main" id="{3E9FF272-2C26-4ECC-84E0-FB887E2B4C3F}"/>
              </a:ext>
            </a:extLst>
          </p:cNvPr>
          <p:cNvSpPr/>
          <p:nvPr/>
        </p:nvSpPr>
        <p:spPr>
          <a:xfrm>
            <a:off x="5339669" y="1544989"/>
            <a:ext cx="1647365" cy="1576197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Google Shape;851;p43">
            <a:extLst>
              <a:ext uri="{FF2B5EF4-FFF2-40B4-BE49-F238E27FC236}">
                <a16:creationId xmlns:a16="http://schemas.microsoft.com/office/drawing/2014/main" id="{30E4A586-191F-4452-98F3-62E68EAFBA5B}"/>
              </a:ext>
            </a:extLst>
          </p:cNvPr>
          <p:cNvSpPr/>
          <p:nvPr/>
        </p:nvSpPr>
        <p:spPr>
          <a:xfrm>
            <a:off x="6923982" y="2455216"/>
            <a:ext cx="1647365" cy="1576197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6"/>
          <p:cNvSpPr txBox="1">
            <a:spLocks noGrp="1"/>
          </p:cNvSpPr>
          <p:nvPr>
            <p:ph type="title"/>
          </p:nvPr>
        </p:nvSpPr>
        <p:spPr>
          <a:xfrm>
            <a:off x="457200" y="414900"/>
            <a:ext cx="82296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Conclusion &amp; Next Steps</a:t>
            </a:r>
          </a:p>
        </p:txBody>
      </p:sp>
      <p:graphicFrame>
        <p:nvGraphicFramePr>
          <p:cNvPr id="636" name="Google Shape;636;p36"/>
          <p:cNvGraphicFramePr/>
          <p:nvPr>
            <p:extLst>
              <p:ext uri="{D42A27DB-BD31-4B8C-83A1-F6EECF244321}">
                <p14:modId xmlns:p14="http://schemas.microsoft.com/office/powerpoint/2010/main" val="706380210"/>
              </p:ext>
            </p:extLst>
          </p:nvPr>
        </p:nvGraphicFramePr>
        <p:xfrm>
          <a:off x="570935" y="1045200"/>
          <a:ext cx="6390850" cy="1684453"/>
        </p:xfrm>
        <a:graphic>
          <a:graphicData uri="http://schemas.openxmlformats.org/drawingml/2006/table">
            <a:tbl>
              <a:tblPr>
                <a:noFill/>
                <a:tableStyleId>{34A916F5-EDC8-4B9E-81DA-F01D3221CF54}</a:tableStyleId>
              </a:tblPr>
              <a:tblGrid>
                <a:gridCol w="639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03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/>
                        <a:t>Conclusion</a:t>
                      </a:r>
                      <a:endParaRPr sz="1600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708">
                <a:tc>
                  <a:txBody>
                    <a:bodyPr/>
                    <a:lstStyle/>
                    <a:p>
                      <a:r>
                        <a:rPr lang="en-US" sz="1200" dirty="0"/>
                        <a:t>Project delivers a complete view of loan performance and credit risk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173">
                <a:tc>
                  <a:txBody>
                    <a:bodyPr/>
                    <a:lstStyle/>
                    <a:p>
                      <a:r>
                        <a:rPr lang="en-US" sz="1200" dirty="0"/>
                        <a:t>Dashboards enable interactive and actionable insights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82">
                <a:tc>
                  <a:txBody>
                    <a:bodyPr/>
                    <a:lstStyle/>
                    <a:p>
                      <a:r>
                        <a:rPr lang="en-US" sz="1200" dirty="0"/>
                        <a:t>Supports better lending and risk management decisions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Google Shape;636;p36">
            <a:extLst>
              <a:ext uri="{FF2B5EF4-FFF2-40B4-BE49-F238E27FC236}">
                <a16:creationId xmlns:a16="http://schemas.microsoft.com/office/drawing/2014/main" id="{E6962519-8F05-4763-8114-0B146EB8AD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566178"/>
              </p:ext>
            </p:extLst>
          </p:nvPr>
        </p:nvGraphicFramePr>
        <p:xfrm>
          <a:off x="570935" y="3044147"/>
          <a:ext cx="6390850" cy="1684453"/>
        </p:xfrm>
        <a:graphic>
          <a:graphicData uri="http://schemas.openxmlformats.org/drawingml/2006/table">
            <a:tbl>
              <a:tblPr>
                <a:noFill/>
                <a:tableStyleId>{34A916F5-EDC8-4B9E-81DA-F01D3221CF54}</a:tableStyleId>
              </a:tblPr>
              <a:tblGrid>
                <a:gridCol w="639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03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/>
                        <a:t>Next Steps</a:t>
                      </a:r>
                      <a:endParaRPr sz="1600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708">
                <a:tc>
                  <a:txBody>
                    <a:bodyPr/>
                    <a:lstStyle/>
                    <a:p>
                      <a:r>
                        <a:rPr lang="en-IN" sz="1200" dirty="0"/>
                        <a:t>Integrate real-time data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173">
                <a:tc>
                  <a:txBody>
                    <a:bodyPr/>
                    <a:lstStyle/>
                    <a:p>
                      <a:r>
                        <a:rPr lang="en-IN" sz="1200" dirty="0"/>
                        <a:t>Include external economic indicators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82">
                <a:tc>
                  <a:txBody>
                    <a:bodyPr/>
                    <a:lstStyle/>
                    <a:p>
                      <a:r>
                        <a:rPr lang="en-IN" sz="1200" dirty="0"/>
                        <a:t>Enhance predictive risk </a:t>
                      </a:r>
                      <a:r>
                        <a:rPr lang="en-IN" sz="1200" dirty="0" err="1"/>
                        <a:t>modeling</a:t>
                      </a:r>
                      <a:endParaRPr lang="en-IN" sz="12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5"/>
          <p:cNvSpPr txBox="1">
            <a:spLocks noGrp="1"/>
          </p:cNvSpPr>
          <p:nvPr>
            <p:ph type="title"/>
          </p:nvPr>
        </p:nvSpPr>
        <p:spPr>
          <a:xfrm>
            <a:off x="2839720" y="1728929"/>
            <a:ext cx="3464560" cy="9918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latin typeface="Viner Hand ITC" panose="03070502030502020203" pitchFamily="66" charset="0"/>
              </a:rPr>
              <a:t>Thank You</a:t>
            </a:r>
            <a:endParaRPr sz="4800" dirty="0">
              <a:latin typeface="Viner Hand ITC" panose="03070502030502020203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ank Loan Pitch Deck Infographics by Slidesgo">
  <a:themeElements>
    <a:clrScheme name="Simple Light">
      <a:dk1>
        <a:srgbClr val="111010"/>
      </a:dk1>
      <a:lt1>
        <a:srgbClr val="F3F3F3"/>
      </a:lt1>
      <a:dk2>
        <a:srgbClr val="FFD966"/>
      </a:dk2>
      <a:lt2>
        <a:srgbClr val="C9B576"/>
      </a:lt2>
      <a:accent1>
        <a:srgbClr val="9E9D9D"/>
      </a:accent1>
      <a:accent2>
        <a:srgbClr val="43434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1101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webextension1.xml><?xml version="1.0" encoding="utf-8"?>
<we:webextension xmlns:we="http://schemas.microsoft.com/office/webextensions/webextension/2010/11" id="{CE39E07B-4A86-439E-B6D9-20C8679D3108}">
  <we:reference id="WA200003233" version="2.0.0.3" store="en-US" storeType="OMEX"/>
  <we:alternateReferences/>
  <we:properties>
    <we:property name="Microsoft.Office.CampaignId" value="&quot;none&quot;"/>
    <we:property name="backgroundColor" value="&quot;#FFFFFF&quot;"/>
    <we:property name="bookmark" value="&quot;H4sIAAAAAAAAA+1aS28URxD+K9ZccrGifj+4YYdIUUhkAeISWVZ1d/UyYXZmMw/DBvm/p2Z2HTAsXjKAvYhcvLvdPdVVX9VXVT3tN0Uqu1UF699hicWD4qRpXi6hfXnEi+Oi3owZrzGpANkkl4T1ybFMs82qL5u6Kx68KXpoF9g/L7sBqlEQDf5xflxAVZ3BYvyVoerwuFhh2zU1VOXfuFlMU3074NVxga9XVdPCKPJpDz2OYi9pOf0mFfiPknaE2JeX+BRjvx0lXRLTLPoUhYsatB0V6zYLJs12LhlFT9ufNnUPZU3bjGNSYzaao5L0lIg5aT6tzWXVb5eE9aPXq5asI5vXqxGch+kS6oipmExosdto/KY4baphOX17dGP8aTO0EZ/gJPpR3Zf9msQEqF9eVA3UF0voaLeLWCHUxRUhc9Y2hNu0quy6AS/WCO0086J5ddoigZWKB+zqeL9OvyF0Q4tfVqlnTQ/V0WNadvRw2Qx1v0O3cxrpynpRbf3+1gXPNipX5IXTF9D2Y2CFP8mDI970VNMmbE/WE+Q/le2178XxexbcmWlX59eBSAv/fCfUTsnYRdNuVP3q3j+/GmeBS+UwGS20pr+Jx+z2huxW0TKSH+4iahctJLw1YO9ao24IF/u1ug8aPcHLprokphydQDXuPodML4Y6tZjOkJSpe0qn8SWmE2j/C8H4+wT7mpExgn7Xe78bA/fH6WsNNnRWGpElyZGJ6FRmHkI4ODpTVS4z7TaCdNFRrR66g6PRGayXOK8SxWoYpf9nwtxlRXpr3v1F7u4w2JYlppxUKLRRQlrBtFOHV5YgpXZS/LBq07TgQGn1mU1eOFxGHUqPdyMoN2RCQJ4dRpGFMCBYYnGC4Faoe3zdh+b1TaSnEoM2oGf0QbEj6WCUrd4rrXsB9PmBLMgqc8Vdghw8ZwwAw15Z5ZKOhB/KYtYKz4xPKrsQhQ05yvmHrwMtLdCmDy03ynrpEldMaMt0CozJuSg6kCIFL7ISXoM3BpI4SBQ/M5PsRtKG5IPWOrLofExWOx7nIokiiMwTJCmkttZ4nth8JB8uFi0uoN/+/PrdbaYjAKYLWG7x/Xmot1mVfTG4R5oaIRxgdEJGyfV8uL1TGE3kjnKABRatYbPTUjCKRQGaMhIn9XTGuJ9QH5Fls0wm6eQhUTuetY3aziYnovJJeBGSTMANeL2/K7oPcp5SB9wsR5W+WKzoTNxUnlsc31hYlYCJuTgajU5KwagqguKRihjoA8Px4eXi6Jd6PEZ0/dGT3S3mDCTvuVXaZdXYpBB9uQ4YnNUyk6eNjdzCXMohM2l83YyaS8rgyJxWs+nLMrdKZ+m9yQpMBj47rSRrlPFaaIaeKx9cCHmurBhSCtbobBw65oULn2AjTM4+GfqeXPkhKzgKY7R3QqWskkXGZmcqxb1mZsxWkpukFLNiv6kfkaW14CJwblg0IXuhlDm8dxq3ngX3ErWryojtDdMLSp+LiX4JephMW222K3Ez36RpGifL3xSPS1JuI/s5VMMo9oef6InUvKp/GHm2ZdrOY8n0RHeXhxKfg3BUrB0Cs2C5oCI7N0ICMOCcB0iRU0cxUvVbunf57sNjx72EETkoxwwH6ahHlDGZ2Wca6pQs98IgKMGTMhGlP7gE8m3dcXz3Ifv2tfvkCqi763vnzZ5tU03frvU4Py4qvMRqM/vXgO2aNp5W7N7wx80O9FzZkQEVrLoR+vGym4YSTur+ius7MHFU4ays6+v9x5j8FAveBtBHrLgplRa1TdOPml7bd+3EeqiqrbMdd0ZRj5KYlAhGZiVn1w2QVnJlqev0ykanov+EV0Z3TcPV0K6a7n8S3grN9tYgaiczd9QNB+kltbLg58XGJG4Xas3QdyuIeAY17kBvSgVpdM+tCE7/zfIveFdX/wA+c83ARSMAAA==&quot;"/>
    <we:property name="creatorSessionId" value="&quot;bc037ebc-a32c-4bb5-a557-cb98e80a8aff&quot;"/>
    <we:property name="creatorTenantId" value="&quot;5df5eab4-c3de-44e0-b526-0d8cb5552cad&quot;"/>
    <we:property name="creatorUserId" value="&quot;10032004EB3AEDD4&quot;"/>
    <we:property name="datasetId" value="&quot;4b92afc9-c0d1-4b87-95bf-847e8632ab63&quot;"/>
    <we:property name="embedUrl" value="&quot;/reportEmbed?reportId=c4d84738-494d-4cf3-be3b-af9a7546e5c5&amp;config=eyJjbHVzdGVyVXJsIjoiaHR0cHM6Ly9XQUJJLU5FVy1aRUFMQU5ELU5PUlRI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aS28bNxD+K8ZeejECvh+52W4KFElaIyl6KQxjSA6VTVa76j7cqIH/e2dXclM3ipVuE1tFerEkkjuPb+bjDJd+V6SyW1Ww/gGWWDwuTpvmzRLaN0e8OC7q7diPPz59fvLi6eUPJ8+f0HCz6sum7orH74oe2gX2P5fdANUogQZ/uTguoKrOYTH+ylB1eFyssO2aGqryd9wspqm+HfD6uMC3q6ppYRT5soceR7FXtJx+k27+SJJGiH15hS8x9ttR61NimkWfonBRg7aZlnWbBZNlO5eMoif1Z03dQ1mTmnFMasxGc1SSnhIxJ82ntbms+u2SsH7ydtWSd+TzejWicpKuoI6YismFFruNxe+Ks6YaltO3J7fGXzZDG/EFTqKf1H3Zr0lMgPrNZdVAfbmEjrRdxgqhLq4JmfO2IdymVWXXDXi5RminmVfNb2ctElipeMyuj/fb9ByhG1r8vEb91PRQHT2jZUcny2ao+x22XdBIV9aLahv39yH4aWNyRVE4ewVtPyZWeE0RHPGmp5o2YXu6niD/tmxvYi+O/+bBvbl2fXGTiLTw9V9S7YycXTTtxtQvHv2L63EWuFQOk9FCa/qbeMxub8puDS0jxeE+snbRQsI7E/a+LeqGcLnfqoeg0Qu8aqorYsrRKVSj9jlkejXUqcV0jmRM3dN2Gt9gOoX2nxCM/51gXzIzRtDvW/dfc+DhOH1jwYbOSiOyJDkyEZ3KzEMIB0dnqsplJm0jSJcd1eqhOzgancN6ifMqUayGUfo/Jsx9VqT37j1c5u5Og21ZYspJhUIbJaQVTDt1eGUJUmonww+rNk0LDpRW/7LJC4fLqEPp8W4l5YZMCMizwyiyEAYESyxOENwJdY9v+9C8vY30VGLQBvSMPih3JB2MstV7pXWvgD4/kAVZZa64S5CD54wBYNgrq1zSkfBDWcxa4ZnxSWUXorAhRzn/8HWgpQXa9KHnRlkvXeKKCW2ZToExORdFB1Kk4EVWwmvwxkASB4niv9xJdiNpQ/JBax1ZdD4mqx2Pc5FEEUTmCZIUUltrPE9sPpIni0WLC+i3P798d5vpCIDpEpZbfL8b6u2uyj4b3CNNjRAOMDoho+R6PtzeKYwmckd7gAUWrWGzt6VgFIsCNO1InMzTGeN+Qn1Els0ymaSTh0TteNY2ajubnIjKJ+FFSDIBN+D1/q7oIch5Rh1wsxxN+my5ojNxU3lucXxjYVUCJubiaDQ6KQWjqgiKRypioA8Mx5OrxdH39XiM6PqjF7tbzBlIPnCrtMursUkh+nIdMDirZaZIGxu5hbmUQ2ZSUgFQc0k7ODKn1Wz6ssyt0ll6b7ICk4HP3laSNcp4LTRDz5UPLoQ8V1YMKQVrdDYOHfPChU/wEaZgnw59T6H8kBUchTHaO6FSVskiY7N3KsW9ZmbcrSQ3SSlmxX5XPyJLa8FF4NywaEL2QilzeO807jwL7iVqV5UR21uuF7R9Lib6Jehhcm21UVfiZr5J0zROnr8rnpVk3Eb2z1ANo9hvvqUnUvNb/c3Isy3Tdh5Lpie6+zyU+ByEo2LtEJgFywUV2bkZEoAB5zxAipw6ipGq/6V7l68+PXbcSxiRg3LMcJCOekQZk5l9pqFOyXIvDIISPCkTUfqD20D+W3ccX33Kvn/tPoUC6u7m3nmjs22q6duNHRfHRYVXWG1mfx2wXZPiacVuhY82Gui5siMHKlh1I/TjZTcNJZzMfYrre3BxNOG8rOsb/WNOfooH7xPoI17clkqL2qbpR0tv/LsJYj1U1TbYjjujqEdJTEoEI7OSs+sGSCu5stR1emWjU9F/wiuj+6bhamhXTfc/Ce+EZntrELWTmTvqhoP0klpZ8PNyYxK3C7Vm6LsVRDyHGnegN20FaQzPnQhO/80yXVuOtpSh2gf5SJA/wb6+/gOqp7DFbiMAAA==&quot;"/>
    <we:property name="isFiltersActionButtonVisible" value="true"/>
    <we:property name="isVisualContainerHeaderHidden" value="false"/>
    <we:property name="pageDisplayName" value="&quot;Page 1&quot;"/>
    <we:property name="pageName" value="&quot;179dd050c9dc28c5a57f&quot;"/>
    <we:property name="reportEmbeddedTime" value="&quot;2025-12-25T09:38:33.156Z&quot;"/>
    <we:property name="reportName" value="&quot;Bank Loan Analysis Dashboard tm&quot;"/>
    <we:property name="reportState" value="&quot;CONNECTED&quot;"/>
    <we:property name="reportUrl" value="&quot;/groups/me/reports/c4d84738-494d-4cf3-be3b-af9a7546e5c5/179dd050c9dc28c5a57f?bookmarkGuid=fb0a26c8-b70c-4f43-b50f-45bd24114660&amp;bookmarkUsage=1&amp;ctid=5df5eab4-c3de-44e0-b526-0d8cb5552cad&amp;fromEntryPoint=export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400</Words>
  <Application>Microsoft Office PowerPoint</Application>
  <PresentationFormat>On-screen Show (16:9)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Inter Medium</vt:lpstr>
      <vt:lpstr>Arial</vt:lpstr>
      <vt:lpstr>Bahnschrift</vt:lpstr>
      <vt:lpstr>Viner Hand ITC</vt:lpstr>
      <vt:lpstr>JetBrains Mono</vt:lpstr>
      <vt:lpstr>Cambria</vt:lpstr>
      <vt:lpstr>Inter</vt:lpstr>
      <vt:lpstr>Bank Loan Pitch Deck Infographics by Slidesgo</vt:lpstr>
      <vt:lpstr>Bank Loan Analysis &amp; Credit Risk Dashboard</vt:lpstr>
      <vt:lpstr>Project Overview</vt:lpstr>
      <vt:lpstr>Dataset Description</vt:lpstr>
      <vt:lpstr>Tools &amp; Technology Stack</vt:lpstr>
      <vt:lpstr>Data Cleaning &amp; Preparation</vt:lpstr>
      <vt:lpstr>Key Performance Indicators (KPIs)</vt:lpstr>
      <vt:lpstr>Dashboard &amp; Visual Analysis</vt:lpstr>
      <vt:lpstr>Dashboard &amp; Visual Analysis</vt:lpstr>
      <vt:lpstr>Key Insights &amp; Findings</vt:lpstr>
      <vt:lpstr>Business Recommendations</vt:lpstr>
      <vt:lpstr>Conclusion &amp; 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Analysis &amp; Credit Risk Dashboard</dc:title>
  <cp:lastModifiedBy>Faiz Syed</cp:lastModifiedBy>
  <cp:revision>13</cp:revision>
  <dcterms:modified xsi:type="dcterms:W3CDTF">2025-12-25T10:48:50Z</dcterms:modified>
</cp:coreProperties>
</file>